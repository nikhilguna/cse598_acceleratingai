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4d8b63bda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Google Shape;27;g34d8b63bd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Our project revolves around using LLMs to optimize GPU kernals. Performance in modern AI really hinges on a handful of </a:t>
            </a:r>
            <a:r>
              <a:rPr b="1" lang="en-US" sz="1300">
                <a:solidFill>
                  <a:schemeClr val="dk1"/>
                </a:solidFill>
              </a:rPr>
              <a:t>GPU kernels</a:t>
            </a:r>
            <a:r>
              <a:rPr lang="en-US" sz="1300">
                <a:solidFill>
                  <a:schemeClr val="dk1"/>
                </a:solidFill>
              </a:rPr>
              <a:t>. Because latency is hyper-sensitive to tiling, layout, and warp scheduling, practitioners still hand-tune the hottest kernels.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The catch is: the </a:t>
            </a:r>
            <a:r>
              <a:rPr i="1" lang="en-US" sz="1300">
                <a:solidFill>
                  <a:schemeClr val="dk1"/>
                </a:solidFill>
              </a:rPr>
              <a:t>best</a:t>
            </a:r>
            <a:r>
              <a:rPr lang="en-US" sz="1300">
                <a:solidFill>
                  <a:schemeClr val="dk1"/>
                </a:solidFill>
              </a:rPr>
              <a:t> kernel isn’t fixed. It depends on </a:t>
            </a:r>
            <a:r>
              <a:rPr b="1" lang="en-US" sz="1300">
                <a:solidFill>
                  <a:schemeClr val="dk1"/>
                </a:solidFill>
              </a:rPr>
              <a:t>model shapes, hardware, and runtime context</a:t>
            </a:r>
            <a:r>
              <a:rPr lang="en-US" sz="1300">
                <a:solidFill>
                  <a:schemeClr val="dk1"/>
                </a:solidFill>
              </a:rPr>
              <a:t>, and those </a:t>
            </a:r>
            <a:r>
              <a:rPr b="1" lang="en-US" sz="1300">
                <a:solidFill>
                  <a:schemeClr val="dk1"/>
                </a:solidFill>
              </a:rPr>
              <a:t>shift over time</a:t>
            </a:r>
            <a:r>
              <a:rPr lang="en-US" sz="1300">
                <a:solidFill>
                  <a:schemeClr val="dk1"/>
                </a:solidFill>
              </a:rPr>
              <a:t>—think changing sequence lengths, batch sizes, or even a different GPU or co-tenant on the card. What was optimal last week can be mediocre today.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We do have </a:t>
            </a:r>
            <a:r>
              <a:rPr b="1" lang="en-US" sz="1300">
                <a:solidFill>
                  <a:schemeClr val="dk1"/>
                </a:solidFill>
              </a:rPr>
              <a:t>offline autotuning</a:t>
            </a:r>
            <a:r>
              <a:rPr lang="en-US" sz="1300">
                <a:solidFill>
                  <a:schemeClr val="dk1"/>
                </a:solidFill>
              </a:rPr>
              <a:t> which is a </a:t>
            </a:r>
            <a:r>
              <a:rPr b="1" lang="en-US" sz="1300">
                <a:solidFill>
                  <a:schemeClr val="dk1"/>
                </a:solidFill>
              </a:rPr>
              <a:t>pre-deployment</a:t>
            </a:r>
            <a:r>
              <a:rPr lang="en-US" sz="1300">
                <a:solidFill>
                  <a:schemeClr val="dk1"/>
                </a:solidFill>
              </a:rPr>
              <a:t> process that compiles and benchmarks many kernel/schedule variants for a </a:t>
            </a:r>
            <a:r>
              <a:rPr b="1" lang="en-US" sz="1300">
                <a:solidFill>
                  <a:schemeClr val="dk1"/>
                </a:solidFill>
              </a:rPr>
              <a:t>fixed workload on a specific GPU</a:t>
            </a:r>
            <a:r>
              <a:rPr lang="en-US" sz="1300">
                <a:solidFill>
                  <a:schemeClr val="dk1"/>
                </a:solidFill>
              </a:rPr>
              <a:t> to find the best one. It’s </a:t>
            </a:r>
            <a:r>
              <a:rPr b="1" lang="en-US" sz="1300">
                <a:solidFill>
                  <a:schemeClr val="dk1"/>
                </a:solidFill>
              </a:rPr>
              <a:t>slow to adapt</a:t>
            </a:r>
            <a:r>
              <a:rPr lang="en-US" sz="1300">
                <a:solidFill>
                  <a:schemeClr val="dk1"/>
                </a:solidFill>
              </a:rPr>
              <a:t>, </a:t>
            </a:r>
            <a:r>
              <a:rPr b="1" lang="en-US" sz="1300">
                <a:solidFill>
                  <a:schemeClr val="dk1"/>
                </a:solidFill>
              </a:rPr>
              <a:t>expensive to rerun</a:t>
            </a:r>
            <a:r>
              <a:rPr lang="en-US" sz="1300">
                <a:solidFill>
                  <a:schemeClr val="dk1"/>
                </a:solidFill>
              </a:rPr>
              <a:t>, and often </a:t>
            </a:r>
            <a:r>
              <a:rPr b="1" lang="en-US" sz="1300">
                <a:solidFill>
                  <a:schemeClr val="dk1"/>
                </a:solidFill>
              </a:rPr>
              <a:t>brittle</a:t>
            </a:r>
            <a:r>
              <a:rPr lang="en-US" sz="1300">
                <a:solidFill>
                  <a:schemeClr val="dk1"/>
                </a:solidFill>
              </a:rPr>
              <a:t>—one change in workload or hardware and you’re back to square one.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Meanwhile, </a:t>
            </a:r>
            <a:r>
              <a:rPr b="1" lang="en-US" sz="1300">
                <a:solidFill>
                  <a:schemeClr val="dk1"/>
                </a:solidFill>
              </a:rPr>
              <a:t>LLMs can synthesize code</a:t>
            </a:r>
            <a:r>
              <a:rPr lang="en-US" sz="1300">
                <a:solidFill>
                  <a:schemeClr val="dk1"/>
                </a:solidFill>
              </a:rPr>
              <a:t>. That hints at a path to </a:t>
            </a:r>
            <a:r>
              <a:rPr b="1" lang="en-US" sz="1300">
                <a:solidFill>
                  <a:schemeClr val="dk1"/>
                </a:solidFill>
              </a:rPr>
              <a:t>on-the-fly optimization</a:t>
            </a:r>
            <a:r>
              <a:rPr lang="en-US" sz="1300">
                <a:solidFill>
                  <a:schemeClr val="dk1"/>
                </a:solidFill>
              </a:rPr>
              <a:t>: generate a specialized kernel when conditions change. The core question is: </a:t>
            </a:r>
            <a:r>
              <a:rPr i="1" lang="en-US" sz="1300">
                <a:solidFill>
                  <a:schemeClr val="dk1"/>
                </a:solidFill>
              </a:rPr>
              <a:t>Can LLMs synthesize kernels that beat the offline-tuned or default baselines—and how reliably/quickly?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That’s the motivation for our work: turn that possibility into something measurable and safe—so when workloads drift, we can respond with code that actually compiles, passes checks, and runs faster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8ee04b8f2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g38ee04b8f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Recent work</a:t>
            </a:r>
            <a:r>
              <a:rPr lang="en-US">
                <a:solidFill>
                  <a:schemeClr val="dk1"/>
                </a:solidFill>
              </a:rPr>
              <a:t> shows this is plausible: LLMs can already synthesize Triton or CUDA from prompts, and papers like GEAK and KernelBench report encouraging results—but mostly in </a:t>
            </a:r>
            <a:r>
              <a:rPr b="1" lang="en-US">
                <a:solidFill>
                  <a:schemeClr val="dk1"/>
                </a:solidFill>
              </a:rPr>
              <a:t>static, controlled settings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What’s missing</a:t>
            </a:r>
            <a:r>
              <a:rPr lang="en-US">
                <a:solidFill>
                  <a:schemeClr val="dk1"/>
                </a:solidFill>
              </a:rPr>
              <a:t> is a </a:t>
            </a:r>
            <a:r>
              <a:rPr b="1" lang="en-US">
                <a:solidFill>
                  <a:schemeClr val="dk1"/>
                </a:solidFill>
              </a:rPr>
              <a:t>unified, dynamic evaluation</a:t>
            </a:r>
            <a:r>
              <a:rPr lang="en-US">
                <a:solidFill>
                  <a:schemeClr val="dk1"/>
                </a:solidFill>
              </a:rPr>
              <a:t> of reliability. In practice we need to know three things: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Can models consistently get to correct code?</a:t>
            </a:r>
            <a:r>
              <a:rPr lang="en-US">
                <a:solidFill>
                  <a:schemeClr val="dk1"/>
                </a:solidFill>
              </a:rPr>
              <a:t> That means compile success and differential-correctness rates under realistic shapes.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When they do compile, are they actually faster—and how quickly do they get there?</a:t>
            </a:r>
            <a:r>
              <a:rPr lang="en-US">
                <a:solidFill>
                  <a:schemeClr val="dk1"/>
                </a:solidFill>
              </a:rPr>
              <a:t> We care about runtime speedups, </a:t>
            </a:r>
            <a:r>
              <a:rPr i="1" lang="en-US">
                <a:solidFill>
                  <a:schemeClr val="dk1"/>
                </a:solidFill>
              </a:rPr>
              <a:t>time-to-first win</a:t>
            </a:r>
            <a:r>
              <a:rPr lang="en-US">
                <a:solidFill>
                  <a:schemeClr val="dk1"/>
                </a:solidFill>
              </a:rPr>
              <a:t>, and the attempt/token cost.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US">
                <a:solidFill>
                  <a:schemeClr val="dk1"/>
                </a:solidFill>
              </a:rPr>
              <a:t>Can those wins be deployed safely as conditions change?</a:t>
            </a:r>
            <a:r>
              <a:rPr lang="en-US">
                <a:solidFill>
                  <a:schemeClr val="dk1"/>
                </a:solidFill>
              </a:rPr>
              <a:t> That’s about guardrails (sandboxing, numeric tolerances) and the mechanics of promoting a kernel without breaking the system.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8ee04b8f2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38ee04b8f2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We start with </a:t>
            </a:r>
            <a:r>
              <a:rPr b="1" lang="en-US">
                <a:solidFill>
                  <a:schemeClr val="dk1"/>
                </a:solidFill>
              </a:rPr>
              <a:t>LLM proposers</a:t>
            </a:r>
            <a:r>
              <a:rPr lang="en-US">
                <a:solidFill>
                  <a:schemeClr val="dk1"/>
                </a:solidFill>
              </a:rPr>
              <a:t>—each model gets the same spec and returns a Triton kernel.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That code goes into a </a:t>
            </a:r>
            <a:r>
              <a:rPr b="1" lang="en-US">
                <a:solidFill>
                  <a:schemeClr val="dk1"/>
                </a:solidFill>
              </a:rPr>
              <a:t>compiler sandbox</a:t>
            </a:r>
            <a:r>
              <a:rPr lang="en-US">
                <a:solidFill>
                  <a:schemeClr val="dk1"/>
                </a:solidFill>
              </a:rPr>
              <a:t> and then into a </a:t>
            </a:r>
            <a:r>
              <a:rPr b="1" lang="en-US">
                <a:solidFill>
                  <a:schemeClr val="dk1"/>
                </a:solidFill>
              </a:rPr>
              <a:t>verifier which</a:t>
            </a:r>
            <a:r>
              <a:rPr lang="en-US">
                <a:solidFill>
                  <a:schemeClr val="dk1"/>
                </a:solidFill>
              </a:rPr>
              <a:t> runs unit tests and checks against a reference to ensure correctness.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Passing candidates hit the </a:t>
            </a:r>
            <a:r>
              <a:rPr b="1" lang="en-US">
                <a:solidFill>
                  <a:schemeClr val="dk1"/>
                </a:solidFill>
              </a:rPr>
              <a:t>benchmark engine</a:t>
            </a:r>
            <a:r>
              <a:rPr lang="en-US">
                <a:solidFill>
                  <a:schemeClr val="dk1"/>
                </a:solidFill>
              </a:rPr>
              <a:t>, which aims to get reliable latency and </a:t>
            </a:r>
            <a:r>
              <a:rPr lang="en-US">
                <a:solidFill>
                  <a:schemeClr val="dk1"/>
                </a:solidFill>
              </a:rPr>
              <a:t>through output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Finally, </a:t>
            </a:r>
            <a:r>
              <a:rPr b="1" lang="en-US">
                <a:solidFill>
                  <a:schemeClr val="dk1"/>
                </a:solidFill>
              </a:rPr>
              <a:t>scoring and ranking</a:t>
            </a:r>
            <a:r>
              <a:rPr lang="en-US">
                <a:solidFill>
                  <a:schemeClr val="dk1"/>
                </a:solidFill>
              </a:rPr>
              <a:t> log compile/pass rates, time-to-first win, and speedup to produce an apples-to-apples leaderboard—and those artifacts can later be promoted into a small runtime demo.”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LLM proposers: GPT-4, Claude, Qwen → generate Triton kernels for target ops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Compiler Sandbox: Safely compiles kernels and isolates crashes.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Verifier: Runs unit tests + differential tests against baseline (correctness)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Benchmark Engine: measures latency, throughput and efficiency. (performance)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Scoring + Ranking: Logs compile rate, correctness, time-to-first-success, and speedup.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metrics: compile/pass rates, speedup %, and diversity of emitted kernels.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Data Collection: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Shape distributions (realistic tensor sizes)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Metrics to measure performance/reliability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ee04b8f2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8ee04b8f2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Our </a:t>
            </a:r>
            <a:r>
              <a:rPr b="1" lang="en-US">
                <a:solidFill>
                  <a:schemeClr val="dk1"/>
                </a:solidFill>
              </a:rPr>
              <a:t>core goal</a:t>
            </a:r>
            <a:r>
              <a:rPr lang="en-US">
                <a:solidFill>
                  <a:schemeClr val="dk1"/>
                </a:solidFill>
              </a:rPr>
              <a:t> is to build and evaluate a controlled </a:t>
            </a:r>
            <a:r>
              <a:rPr b="1" lang="en-US">
                <a:solidFill>
                  <a:schemeClr val="dk1"/>
                </a:solidFill>
              </a:rPr>
              <a:t>LLM kernel-generation arena</a:t>
            </a:r>
            <a:r>
              <a:rPr lang="en-US">
                <a:solidFill>
                  <a:schemeClr val="dk1"/>
                </a:solidFill>
              </a:rPr>
              <a:t>: multiple models freely write </a:t>
            </a:r>
            <a:r>
              <a:rPr b="1" lang="en-US">
                <a:solidFill>
                  <a:schemeClr val="dk1"/>
                </a:solidFill>
              </a:rPr>
              <a:t>Triton</a:t>
            </a:r>
            <a:r>
              <a:rPr lang="en-US">
                <a:solidFill>
                  <a:schemeClr val="dk1"/>
                </a:solidFill>
              </a:rPr>
              <a:t> kernels for a few essential ops—</a:t>
            </a:r>
            <a:r>
              <a:rPr b="1" lang="en-US">
                <a:solidFill>
                  <a:schemeClr val="dk1"/>
                </a:solidFill>
              </a:rPr>
              <a:t>RMSNorm, softmax, and top-k</a:t>
            </a:r>
            <a:r>
              <a:rPr lang="en-US">
                <a:solidFill>
                  <a:schemeClr val="dk1"/>
                </a:solidFill>
              </a:rPr>
              <a:t>—and every candidate is compiled, correctness-checked, benchmarked, and scored.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In practice, each model gets a few attempts to emit a Triton kernel, we compile it, differentially test against a reference, measured iterations, log compile/pass rates, speedups, and time-to-first-win on a live leaderboard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Multi-backend expansion: Add CUDA kernel generation with fixed launcher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Real-time adaption: Implementing Hot-swapping in a live Pytorch loop with rollback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Autonomous feedback loop: Allow the model to self-improve using compile/runtime logs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Cross-model analysis: Comparing multiple LLMs systematically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Verifier distillation: Train a lightweight verifier model from logged compile/test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ee04b8f2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ee04b8f2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ee04b8f29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ee04b8f2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hot-swap and rollback are part of stretch goals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ee04b8f2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ee04b8f2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shape distributions vary batch size + sequence (combinations of tensors) so evaluation reflects realistic model behavior rather than single static tensor size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Prompting: Each LLM receives op spec + example inputs and outputs.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Kernel Generation: Model emits full Triton kernel code.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Compilation &amp; Verification: Sandbox Compile + running correctness 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BenchMarking: Measure latency and throughput on GPU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Scoring: Log compile/pass rates, time-to-first-success, best speedup, and code diversity.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Optional Runtime Hook: Best kernel is hot-swapped into PyTorch for a live token/s comparison; rollback on failure.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ee04b8f29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ee04b8f2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focusing on measuring reliability and performance of LLM-generated kernels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ee04b8f2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ee04b8f2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ee04b8f29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ee04b8f2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setup: build minimal environment for safe kernel compilation, testing, and benchmarking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arena: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US"/>
              <a:t>APIs for LLMs to submit kernels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US">
                <a:solidFill>
                  <a:schemeClr val="dk1"/>
                </a:solidFill>
              </a:rPr>
              <a:t>judge module that executes full pipeline compile→test→benchmark→score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>
                <a:solidFill>
                  <a:schemeClr val="dk1"/>
                </a:solidFill>
              </a:rPr>
              <a:t>log compile success/fail rates, correctness, speedup, code length, token diversity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>
                <a:solidFill>
                  <a:schemeClr val="dk1"/>
                </a:solidFill>
              </a:rPr>
              <a:t>support for all aforementioned ops (RMSNorm, softmax, top-k)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comparative study: goal is to systematically compare different LLMs under different conditions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>
                <a:solidFill>
                  <a:schemeClr val="dk1"/>
                </a:solidFill>
              </a:rPr>
              <a:t>compare across LLMs, shape distributions, and prompt styles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>
                <a:solidFill>
                  <a:schemeClr val="dk1"/>
                </a:solidFill>
              </a:rPr>
              <a:t>compute time-to-first-win (how long until better kernel shows up), peak speedup, pass rate, code diversity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hot-swap hook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>
                <a:solidFill>
                  <a:schemeClr val="dk1"/>
                </a:solidFill>
              </a:rPr>
              <a:t>Add a single hook around one op (e.g., RMSNorm). When a </a:t>
            </a:r>
            <a:r>
              <a:rPr i="1" lang="en-US">
                <a:solidFill>
                  <a:schemeClr val="dk1"/>
                </a:solidFill>
              </a:rPr>
              <a:t>new</a:t>
            </a:r>
            <a:r>
              <a:rPr lang="en-US">
                <a:solidFill>
                  <a:schemeClr val="dk1"/>
                </a:solidFill>
              </a:rPr>
              <a:t> shape bucket appears, allocate a </a:t>
            </a:r>
            <a:r>
              <a:rPr b="1" lang="en-US">
                <a:solidFill>
                  <a:schemeClr val="dk1"/>
                </a:solidFill>
              </a:rPr>
              <a:t>small attempt budget</a:t>
            </a:r>
            <a:r>
              <a:rPr lang="en-US">
                <a:solidFill>
                  <a:schemeClr val="dk1"/>
                </a:solidFill>
              </a:rPr>
              <a:t> (e.g., 2–3 tries, ≤60s) to synthesize+test; if a candidate wins, hot-swap; otherwise keep baseline, basic rollback by periodic correctness/compile checks to last known good kernel.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full adaptive system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>
                <a:solidFill>
                  <a:schemeClr val="dk1"/>
                </a:solidFill>
              </a:rPr>
              <a:t>Background proposer runs periodically with drift detection, shape→variant cache, and instant rollback for detected regressions – autonomous, self-improving kernel layer driven by LLM synthesis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>
                <a:solidFill>
                  <a:schemeClr val="dk1"/>
                </a:solidFill>
              </a:rPr>
              <a:t>(how rollback here is different – metrics collected via telemetry streams like latency and correctness sampling and revert to previous champion with performance drift or statistical anomalies)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3a58033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93a58033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db2f28ff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db2f28f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0" y="4989403"/>
            <a:ext cx="12192000" cy="990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0" y="3468413"/>
            <a:ext cx="12192000" cy="9774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2">
  <p:cSld name="Content Slide 2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00274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0" type="dt"/>
          </p:nvPr>
        </p:nvSpPr>
        <p:spPr>
          <a:xfrm>
            <a:off x="9693166" y="6474372"/>
            <a:ext cx="974834" cy="247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1524000" y="6474372"/>
            <a:ext cx="7819697" cy="247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10668000" y="6474372"/>
            <a:ext cx="1135117" cy="247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30800" y="720890"/>
            <a:ext cx="1930400" cy="20574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0" y="4989403"/>
            <a:ext cx="12192000" cy="990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Hannah Shu, Nikhil Gunaratnam, Pranav Rakasi</a:t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0" y="3468413"/>
            <a:ext cx="12192000" cy="9774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/>
              <a:t>Project Proposal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ctrTitle"/>
          </p:nvPr>
        </p:nvSpPr>
        <p:spPr>
          <a:xfrm>
            <a:off x="1524000" y="355108"/>
            <a:ext cx="9144000" cy="86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+ Motivation</a:t>
            </a:r>
            <a:endParaRPr/>
          </a:p>
        </p:txBody>
      </p:sp>
      <p:sp>
        <p:nvSpPr>
          <p:cNvPr id="30" name="Google Shape;30;p6"/>
          <p:cNvSpPr txBox="1"/>
          <p:nvPr/>
        </p:nvSpPr>
        <p:spPr>
          <a:xfrm>
            <a:off x="517325" y="1498950"/>
            <a:ext cx="1099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/>
        </p:nvSpPr>
        <p:spPr>
          <a:xfrm>
            <a:off x="265275" y="1498950"/>
            <a:ext cx="11368200" cy="4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H</a:t>
            </a:r>
            <a:r>
              <a:rPr b="1" lang="en-US" sz="2000"/>
              <a:t>and-tuned</a:t>
            </a:r>
            <a:r>
              <a:rPr lang="en-US" sz="2000"/>
              <a:t> GPU kernels needed for performance-critical operations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Optimal </a:t>
            </a:r>
            <a:r>
              <a:rPr lang="en-US" sz="2000"/>
              <a:t>kernel</a:t>
            </a:r>
            <a:r>
              <a:rPr lang="en-US" sz="2000"/>
              <a:t> performance depends on model shapes, hardware, and runtime context – and </a:t>
            </a:r>
            <a:r>
              <a:rPr b="1" lang="en-US" sz="2000"/>
              <a:t>shifts over time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Offline autotuning frameworks search over massive design spaces, but </a:t>
            </a:r>
            <a:r>
              <a:rPr b="1" lang="en-US" sz="2000"/>
              <a:t>can’t keep up: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Slow to adapt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Expensive to rerun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Brittle when conditions change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LLMs can now synthesize code, hinting at a new path for </a:t>
            </a:r>
            <a:r>
              <a:rPr b="1" lang="en-US" sz="2000"/>
              <a:t>on-the-fly</a:t>
            </a:r>
            <a:r>
              <a:rPr lang="en-US" sz="2000"/>
              <a:t> optimizations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How reliable are LLMs at generating correct, fast GPU kernels without human supervision?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ctrTitle"/>
          </p:nvPr>
        </p:nvSpPr>
        <p:spPr>
          <a:xfrm>
            <a:off x="1524000" y="355108"/>
            <a:ext cx="9144000" cy="86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Research Questions</a:t>
            </a:r>
            <a:endParaRPr/>
          </a:p>
        </p:txBody>
      </p:sp>
      <p:sp>
        <p:nvSpPr>
          <p:cNvPr id="37" name="Google Shape;37;p7"/>
          <p:cNvSpPr txBox="1"/>
          <p:nvPr/>
        </p:nvSpPr>
        <p:spPr>
          <a:xfrm>
            <a:off x="221775" y="1314375"/>
            <a:ext cx="11741100" cy="4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Recent Works</a:t>
            </a:r>
            <a:r>
              <a:rPr lang="en-US" sz="2000"/>
              <a:t>: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LLMs can synthesize Triton or CUDA kernels from prompts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Works like GEAK and KernelBench show </a:t>
            </a:r>
            <a:r>
              <a:rPr lang="en-US" sz="2000"/>
              <a:t>early</a:t>
            </a:r>
            <a:r>
              <a:rPr lang="en-US" sz="2000"/>
              <a:t> promise in static evaluation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Missing: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No unified or dynamic evaluation of LLM reliability </a:t>
            </a:r>
            <a:r>
              <a:rPr lang="en-US" sz="2000"/>
              <a:t>across</a:t>
            </a:r>
            <a:r>
              <a:rPr lang="en-US" sz="2000"/>
              <a:t> compilation correctness, and runtime speed.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Existing benchmarks focus on offline, fixed tasks, not adaptive real-time optimization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Understanding how quickly LLMs reach a “winning” kernel and how safely those kernels can be deployed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ctrTitle"/>
          </p:nvPr>
        </p:nvSpPr>
        <p:spPr>
          <a:xfrm>
            <a:off x="1524000" y="355108"/>
            <a:ext cx="9144000" cy="86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Infrastructure</a:t>
            </a:r>
            <a:endParaRPr/>
          </a:p>
        </p:txBody>
      </p:sp>
      <p:sp>
        <p:nvSpPr>
          <p:cNvPr id="43" name="Google Shape;43;p8"/>
          <p:cNvSpPr txBox="1"/>
          <p:nvPr/>
        </p:nvSpPr>
        <p:spPr>
          <a:xfrm>
            <a:off x="284000" y="1236600"/>
            <a:ext cx="11601000" cy="48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Idea</a:t>
            </a:r>
            <a:r>
              <a:rPr lang="en-US" sz="2000"/>
              <a:t>: create a controlled evaluation arena where different LLMs act as GPU kernel authors, and every generated kernel is compiled, tested, benchmarked, and scored automatically.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Arena Components: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LLM proposers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Compiler sandbox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Verifier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Benchmark engine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Scoring + ranking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ctrTitle"/>
          </p:nvPr>
        </p:nvSpPr>
        <p:spPr>
          <a:xfrm>
            <a:off x="1524000" y="355108"/>
            <a:ext cx="9144000" cy="86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Goals</a:t>
            </a:r>
            <a:endParaRPr/>
          </a:p>
        </p:txBody>
      </p:sp>
      <p:sp>
        <p:nvSpPr>
          <p:cNvPr id="49" name="Google Shape;49;p9"/>
          <p:cNvSpPr txBox="1"/>
          <p:nvPr/>
        </p:nvSpPr>
        <p:spPr>
          <a:xfrm>
            <a:off x="233850" y="1479400"/>
            <a:ext cx="11724300" cy="48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Core Goal:</a:t>
            </a:r>
            <a:r>
              <a:rPr lang="en-US" sz="2000"/>
              <a:t> Build and evaluate an LLM-based arena for free-form Triton kernel generation, </a:t>
            </a:r>
            <a:r>
              <a:rPr lang="en-US" sz="2000"/>
              <a:t>verification</a:t>
            </a:r>
            <a:r>
              <a:rPr lang="en-US" sz="2000"/>
              <a:t>, and benchmarking on a few essential operations (RMSNorm, softmax, top-k)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Reach Goals: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Multi-backend expansion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Real-time adaption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Autonomous feedback loop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Cross-model analysis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ctrTitle"/>
          </p:nvPr>
        </p:nvSpPr>
        <p:spPr>
          <a:xfrm>
            <a:off x="1524000" y="355108"/>
            <a:ext cx="9144000" cy="86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Learnings</a:t>
            </a:r>
            <a:endParaRPr/>
          </a:p>
        </p:txBody>
      </p:sp>
      <p:sp>
        <p:nvSpPr>
          <p:cNvPr id="55" name="Google Shape;55;p10"/>
          <p:cNvSpPr txBox="1"/>
          <p:nvPr/>
        </p:nvSpPr>
        <p:spPr>
          <a:xfrm>
            <a:off x="190675" y="1252150"/>
            <a:ext cx="11756700" cy="4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Agentic kernel generation – LLMs as self-evaluating code authors.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Online vs offline optimization trade-offs on real-time workloads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Feedback-driven verification loop </a:t>
            </a:r>
            <a:r>
              <a:rPr lang="en-US" sz="2000"/>
              <a:t>(c</a:t>
            </a:r>
            <a:r>
              <a:rPr lang="en-US" sz="2000"/>
              <a:t>onnecting compiler and runtime feedback to synthesis)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Measuring </a:t>
            </a:r>
            <a:r>
              <a:rPr i="1" lang="en-US" sz="2000"/>
              <a:t>reliability </a:t>
            </a:r>
            <a:r>
              <a:rPr lang="en-US" sz="2000"/>
              <a:t>via compile success, correctness, and runtime speedup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Safety mechanisms in AI code synthesis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ctrTitle"/>
          </p:nvPr>
        </p:nvSpPr>
        <p:spPr>
          <a:xfrm>
            <a:off x="1524000" y="355108"/>
            <a:ext cx="9144000" cy="86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Architecture</a:t>
            </a:r>
            <a:endParaRPr/>
          </a:p>
        </p:txBody>
      </p:sp>
      <p:sp>
        <p:nvSpPr>
          <p:cNvPr id="61" name="Google Shape;61;p11"/>
          <p:cNvSpPr/>
          <p:nvPr/>
        </p:nvSpPr>
        <p:spPr>
          <a:xfrm>
            <a:off x="393000" y="1280925"/>
            <a:ext cx="2173200" cy="133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25" lIns="89725" spcFirstLastPara="1" rIns="89725" wrap="square" tIns="8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3"/>
              <a:t>Input</a:t>
            </a:r>
            <a:endParaRPr sz="1963"/>
          </a:p>
        </p:txBody>
      </p:sp>
      <p:sp>
        <p:nvSpPr>
          <p:cNvPr id="62" name="Google Shape;62;p11"/>
          <p:cNvSpPr/>
          <p:nvPr/>
        </p:nvSpPr>
        <p:spPr>
          <a:xfrm>
            <a:off x="3358254" y="1280925"/>
            <a:ext cx="2173200" cy="133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25" lIns="89725" spcFirstLastPara="1" rIns="89725" wrap="square" tIns="8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3"/>
              <a:t>Synthesis:</a:t>
            </a:r>
            <a:endParaRPr sz="1963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3"/>
              <a:t>LLM</a:t>
            </a:r>
            <a:endParaRPr sz="1963"/>
          </a:p>
        </p:txBody>
      </p:sp>
      <p:sp>
        <p:nvSpPr>
          <p:cNvPr id="63" name="Google Shape;63;p11"/>
          <p:cNvSpPr/>
          <p:nvPr/>
        </p:nvSpPr>
        <p:spPr>
          <a:xfrm>
            <a:off x="6323496" y="1280925"/>
            <a:ext cx="2173200" cy="133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25" lIns="89725" spcFirstLastPara="1" rIns="89725" wrap="square" tIns="8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3"/>
              <a:t>Safety Check : Compile + Test</a:t>
            </a:r>
            <a:endParaRPr sz="1963"/>
          </a:p>
        </p:txBody>
      </p:sp>
      <p:sp>
        <p:nvSpPr>
          <p:cNvPr id="64" name="Google Shape;64;p11"/>
          <p:cNvSpPr/>
          <p:nvPr/>
        </p:nvSpPr>
        <p:spPr>
          <a:xfrm>
            <a:off x="9288688" y="1280925"/>
            <a:ext cx="2173200" cy="133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25" lIns="89725" spcFirstLastPara="1" rIns="89725" wrap="square" tIns="8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3"/>
              <a:t>Performance Check: benchmark vs baseline</a:t>
            </a:r>
            <a:endParaRPr sz="1963"/>
          </a:p>
        </p:txBody>
      </p:sp>
      <p:sp>
        <p:nvSpPr>
          <p:cNvPr id="65" name="Google Shape;65;p11"/>
          <p:cNvSpPr/>
          <p:nvPr/>
        </p:nvSpPr>
        <p:spPr>
          <a:xfrm>
            <a:off x="9288688" y="3496338"/>
            <a:ext cx="2173200" cy="133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25" lIns="89725" spcFirstLastPara="1" rIns="89725" wrap="square" tIns="8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3"/>
              <a:t>Runtime Use: hot-swap</a:t>
            </a:r>
            <a:endParaRPr sz="1963"/>
          </a:p>
        </p:txBody>
      </p:sp>
      <p:sp>
        <p:nvSpPr>
          <p:cNvPr id="66" name="Google Shape;66;p11"/>
          <p:cNvSpPr/>
          <p:nvPr/>
        </p:nvSpPr>
        <p:spPr>
          <a:xfrm>
            <a:off x="3434689" y="3454660"/>
            <a:ext cx="2173200" cy="133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25" lIns="89725" spcFirstLastPara="1" rIns="89725" wrap="square" tIns="8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3"/>
              <a:t>Cache &amp; Logs</a:t>
            </a:r>
            <a:endParaRPr sz="1963"/>
          </a:p>
        </p:txBody>
      </p:sp>
      <p:sp>
        <p:nvSpPr>
          <p:cNvPr id="67" name="Google Shape;67;p11"/>
          <p:cNvSpPr/>
          <p:nvPr/>
        </p:nvSpPr>
        <p:spPr>
          <a:xfrm>
            <a:off x="6751960" y="4744253"/>
            <a:ext cx="2173200" cy="133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25" lIns="89725" spcFirstLastPara="1" rIns="89725" wrap="square" tIns="8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3"/>
              <a:t>Rollback</a:t>
            </a:r>
            <a:endParaRPr sz="1963"/>
          </a:p>
        </p:txBody>
      </p:sp>
      <p:cxnSp>
        <p:nvCxnSpPr>
          <p:cNvPr id="68" name="Google Shape;68;p11"/>
          <p:cNvCxnSpPr>
            <a:stCxn id="61" idx="3"/>
            <a:endCxn id="62" idx="1"/>
          </p:cNvCxnSpPr>
          <p:nvPr/>
        </p:nvCxnSpPr>
        <p:spPr>
          <a:xfrm>
            <a:off x="2566200" y="1946475"/>
            <a:ext cx="792000" cy="0"/>
          </a:xfrm>
          <a:prstGeom prst="straightConnector1">
            <a:avLst/>
          </a:prstGeom>
          <a:noFill/>
          <a:ln cap="flat" cmpd="sng" w="93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1"/>
          <p:cNvCxnSpPr>
            <a:stCxn id="62" idx="3"/>
            <a:endCxn id="63" idx="1"/>
          </p:cNvCxnSpPr>
          <p:nvPr/>
        </p:nvCxnSpPr>
        <p:spPr>
          <a:xfrm>
            <a:off x="5531454" y="1946475"/>
            <a:ext cx="792000" cy="0"/>
          </a:xfrm>
          <a:prstGeom prst="straightConnector1">
            <a:avLst/>
          </a:prstGeom>
          <a:noFill/>
          <a:ln cap="flat" cmpd="sng" w="93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1"/>
          <p:cNvCxnSpPr>
            <a:stCxn id="63" idx="3"/>
            <a:endCxn id="64" idx="1"/>
          </p:cNvCxnSpPr>
          <p:nvPr/>
        </p:nvCxnSpPr>
        <p:spPr>
          <a:xfrm>
            <a:off x="8496696" y="1946475"/>
            <a:ext cx="792000" cy="0"/>
          </a:xfrm>
          <a:prstGeom prst="straightConnector1">
            <a:avLst/>
          </a:prstGeom>
          <a:noFill/>
          <a:ln cap="flat" cmpd="sng" w="93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1"/>
          <p:cNvCxnSpPr>
            <a:stCxn id="64" idx="2"/>
            <a:endCxn id="65" idx="0"/>
          </p:cNvCxnSpPr>
          <p:nvPr/>
        </p:nvCxnSpPr>
        <p:spPr>
          <a:xfrm>
            <a:off x="10375288" y="2612025"/>
            <a:ext cx="0" cy="884400"/>
          </a:xfrm>
          <a:prstGeom prst="straightConnector1">
            <a:avLst/>
          </a:prstGeom>
          <a:noFill/>
          <a:ln cap="flat" cmpd="sng" w="93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1"/>
          <p:cNvCxnSpPr>
            <a:stCxn id="65" idx="1"/>
            <a:endCxn id="66" idx="3"/>
          </p:cNvCxnSpPr>
          <p:nvPr/>
        </p:nvCxnSpPr>
        <p:spPr>
          <a:xfrm rot="10800000">
            <a:off x="5607988" y="4120188"/>
            <a:ext cx="3680700" cy="41700"/>
          </a:xfrm>
          <a:prstGeom prst="straightConnector1">
            <a:avLst/>
          </a:prstGeom>
          <a:noFill/>
          <a:ln cap="flat" cmpd="sng" w="93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" name="Google Shape;73;p11"/>
          <p:cNvSpPr/>
          <p:nvPr/>
        </p:nvSpPr>
        <p:spPr>
          <a:xfrm>
            <a:off x="8947124" y="5285604"/>
            <a:ext cx="1428000" cy="248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25" lIns="89725" spcFirstLastPara="1" rIns="89725" wrap="square" tIns="8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4"/>
          </a:p>
        </p:txBody>
      </p:sp>
      <p:sp>
        <p:nvSpPr>
          <p:cNvPr id="74" name="Google Shape;74;p11"/>
          <p:cNvSpPr/>
          <p:nvPr/>
        </p:nvSpPr>
        <p:spPr>
          <a:xfrm>
            <a:off x="10268183" y="4892313"/>
            <a:ext cx="214200" cy="5202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3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725" lIns="89725" spcFirstLastPara="1" rIns="89725" wrap="square" tIns="89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4"/>
          </a:p>
        </p:txBody>
      </p:sp>
      <p:sp>
        <p:nvSpPr>
          <p:cNvPr id="75" name="Google Shape;75;p11"/>
          <p:cNvSpPr txBox="1"/>
          <p:nvPr/>
        </p:nvSpPr>
        <p:spPr>
          <a:xfrm>
            <a:off x="8992925" y="4997400"/>
            <a:ext cx="14895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Health monitor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ctrTitle"/>
          </p:nvPr>
        </p:nvSpPr>
        <p:spPr>
          <a:xfrm>
            <a:off x="1524000" y="355108"/>
            <a:ext cx="9144000" cy="86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81" name="Google Shape;81;p12"/>
          <p:cNvSpPr txBox="1"/>
          <p:nvPr/>
        </p:nvSpPr>
        <p:spPr>
          <a:xfrm>
            <a:off x="160000" y="1177400"/>
            <a:ext cx="5716200" cy="48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Focus on evaluating </a:t>
            </a:r>
            <a:r>
              <a:rPr b="1" lang="en-US" sz="2400"/>
              <a:t>key operations</a:t>
            </a:r>
            <a:r>
              <a:rPr lang="en-US" sz="2400"/>
              <a:t> RMSNorm, softmax, and top-K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Implemented in </a:t>
            </a:r>
            <a:r>
              <a:rPr b="1" lang="en-US" sz="2400"/>
              <a:t>Triton</a:t>
            </a:r>
            <a:r>
              <a:rPr lang="en-US" sz="2400"/>
              <a:t> for ease of sandboxing and benchmarking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Operations tested under </a:t>
            </a:r>
            <a:r>
              <a:rPr b="1" lang="en-US" sz="2400"/>
              <a:t>realistic shape distributions</a:t>
            </a:r>
            <a:r>
              <a:rPr lang="en-US" sz="2400"/>
              <a:t> to mimic real inference workloads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2" name="Google Shape;82;p12"/>
          <p:cNvSpPr txBox="1"/>
          <p:nvPr/>
        </p:nvSpPr>
        <p:spPr>
          <a:xfrm>
            <a:off x="6203375" y="1200150"/>
            <a:ext cx="5891700" cy="48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Experimental Flow: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Prompting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Kernel Generation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Compilation &amp; Verification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Benchmarking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Scoring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Optional Runtime Hook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ctrTitle"/>
          </p:nvPr>
        </p:nvSpPr>
        <p:spPr>
          <a:xfrm>
            <a:off x="1524000" y="355108"/>
            <a:ext cx="9144000" cy="86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12750" y="1267500"/>
            <a:ext cx="5273700" cy="47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Setup: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Hardware: 1x GPU (still undecided)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Frameworks: Triton, PyTorch, Python benchmark harness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Each LLM tested on identical op specs and shape distributions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Each experiment repeated for 5-10 attempts per model.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24275" y="1304375"/>
            <a:ext cx="6167700" cy="4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Metrics: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Reliability: Compile Success Rate, Correctness Rate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Performance: Average/Best Speedup, Time-to-First-Win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Adaptability: Shape Generalization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Diversity: Code Novelty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ctrTitle"/>
          </p:nvPr>
        </p:nvSpPr>
        <p:spPr>
          <a:xfrm>
            <a:off x="1524000" y="355108"/>
            <a:ext cx="9144000" cy="86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Papers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44575" y="1199450"/>
            <a:ext cx="11549100" cy="47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Protean Code (MICRO 2014)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Introduced the verify → promote → rollback discipline the project uploads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GEAK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LLM Framework for Triton kernel generation and optimization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Uses multi-agent roles with static benchmarking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KernelBench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Benchmark suite for measuring LLM performance on GPU-kernel synthesis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Defines correctness and speedup metrics across many operators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ctrTitle"/>
          </p:nvPr>
        </p:nvSpPr>
        <p:spPr>
          <a:xfrm>
            <a:off x="1524000" y="355108"/>
            <a:ext cx="9144000" cy="86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Milestones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978000" y="1252325"/>
            <a:ext cx="10817700" cy="47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Setup and scaffolding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Free-form kernel generation arena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Comparative study of multiple LLMs/configurations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(Stretch) Live hot-swap hook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(Stretch) Full adaptive system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ctrTitle"/>
          </p:nvPr>
        </p:nvSpPr>
        <p:spPr>
          <a:xfrm>
            <a:off x="1524000" y="355108"/>
            <a:ext cx="9144000" cy="86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811300" y="1299959"/>
            <a:ext cx="9144000" cy="459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Best implementations of kernels shift based on constraints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Offline tuning: brittle, expensive, slow to adapt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Core goal: LLM-guided kernel synthesis → free form kernel arena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Strict correctness and performance checks – measure reliability of LLMs as kernel authors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Path to replace brittle offline tuning → real-time performance adaptation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4582500" y="2724375"/>
            <a:ext cx="3027000" cy="86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tle Slide 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tent Slide 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